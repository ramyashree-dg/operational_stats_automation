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3C5"/>
    <a:srgbClr val="003366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99645-1752-4097-9998-72C765A3FC40}" v="6" dt="2026-06-30T08:58:06.332"/>
    <p1510:client id="{BC27F420-80AD-4F12-AB4D-B025A7577672}" v="3" dt="2026-07-01T10:28:56.119"/>
    <p1510:client id="{EE4A9BAF-0305-4788-80B8-AD9201C140AA}" v="53" dt="2026-07-02T06:52:01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6920" y="-5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Ticket Count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Created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1.5217821112715439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4B-42DB-BA73-3824FBF4F85F}"/>
                </c:ext>
              </c:extLst>
            </c:dLbl>
            <c:dLbl>
              <c:idx val="11"/>
              <c:layout>
                <c:manualLayout>
                  <c:x val="-1.574266323716260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F1-4E2E-85FF-CEEA0F3F72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9</c:v>
                </c:pt>
                <c:pt idx="3">
                  <c:v>11</c:v>
                </c:pt>
                <c:pt idx="4">
                  <c:v>13</c:v>
                </c:pt>
                <c:pt idx="5">
                  <c:v>8</c:v>
                </c:pt>
                <c:pt idx="6">
                  <c:v>7</c:v>
                </c:pt>
                <c:pt idx="7">
                  <c:v>10</c:v>
                </c:pt>
                <c:pt idx="8">
                  <c:v>9</c:v>
                </c:pt>
                <c:pt idx="9">
                  <c:v>11</c:v>
                </c:pt>
                <c:pt idx="10">
                  <c:v>12</c:v>
                </c:pt>
                <c:pt idx="1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2F-408E-B93F-1C22D51C8F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3B83C5"/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1.221927699087701E-2"/>
                  <c:y val="-6.15896731091733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F1-4E2E-85FF-CEEA0F3F7216}"/>
                </c:ext>
              </c:extLst>
            </c:dLbl>
            <c:dLbl>
              <c:idx val="1"/>
              <c:layout>
                <c:manualLayout>
                  <c:x val="0"/>
                  <c:y val="-1.2317934621834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4B-42DB-BA73-3824FBF4F85F}"/>
                </c:ext>
              </c:extLst>
            </c:dLbl>
            <c:dLbl>
              <c:idx val="2"/>
              <c:layout>
                <c:manualLayout>
                  <c:x val="0"/>
                  <c:y val="-3.07948365545863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4B-42DB-BA73-3824FBF4F85F}"/>
                </c:ext>
              </c:extLst>
            </c:dLbl>
            <c:dLbl>
              <c:idx val="5"/>
              <c:layout>
                <c:manualLayout>
                  <c:x val="-2.173974444673714E-3"/>
                  <c:y val="-3.6953803865503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4B-42DB-BA73-3824FBF4F85F}"/>
                </c:ext>
              </c:extLst>
            </c:dLbl>
            <c:dLbl>
              <c:idx val="7"/>
              <c:layout>
                <c:manualLayout>
                  <c:x val="-7.9711475470933232E-17"/>
                  <c:y val="-1.84769019327518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4B-42DB-BA73-3824FBF4F85F}"/>
                </c:ext>
              </c:extLst>
            </c:dLbl>
            <c:dLbl>
              <c:idx val="8"/>
              <c:layout>
                <c:manualLayout>
                  <c:x val="-7.9711475470933232E-17"/>
                  <c:y val="-2.46358692436691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E4B-42DB-BA73-3824FBF4F85F}"/>
                </c:ext>
              </c:extLst>
            </c:dLbl>
            <c:dLbl>
              <c:idx val="9"/>
              <c:layout>
                <c:manualLayout>
                  <c:x val="0"/>
                  <c:y val="-1.2317934621834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4B-42DB-BA73-3824FBF4F85F}"/>
                </c:ext>
              </c:extLst>
            </c:dLbl>
            <c:dLbl>
              <c:idx val="10"/>
              <c:layout>
                <c:manualLayout>
                  <c:x val="-1.5942295094186646E-16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E4B-42DB-BA73-3824FBF4F85F}"/>
                </c:ext>
              </c:extLst>
            </c:dLbl>
            <c:dLbl>
              <c:idx val="11"/>
              <c:layout>
                <c:manualLayout>
                  <c:x val="-1.5742656203059483E-2"/>
                  <c:y val="-3.76055874927377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F1-4E2E-85FF-CEEA0F3F72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12</c:v>
                </c:pt>
                <c:pt idx="5">
                  <c:v>7</c:v>
                </c:pt>
                <c:pt idx="6">
                  <c:v>6</c:v>
                </c:pt>
                <c:pt idx="7">
                  <c:v>9</c:v>
                </c:pt>
                <c:pt idx="8">
                  <c:v>8</c:v>
                </c:pt>
                <c:pt idx="9">
                  <c:v>10</c:v>
                </c:pt>
                <c:pt idx="10">
                  <c:v>11</c:v>
                </c:pt>
                <c:pt idx="1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2F-408E-B93F-1C22D51C8F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118580671"/>
        <c:axId val="2118579711"/>
      </c:areaChart>
      <c:catAx>
        <c:axId val="21185806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79711"/>
        <c:crosses val="autoZero"/>
        <c:auto val="1"/>
        <c:lblAlgn val="ctr"/>
        <c:lblOffset val="100"/>
        <c:noMultiLvlLbl val="1"/>
      </c:catAx>
      <c:valAx>
        <c:axId val="2118579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806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Source Data Availability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Annuities</c:v>
                </c:pt>
                <c:pt idx="1">
                  <c:v>PSQL-Affluent</c:v>
                </c:pt>
                <c:pt idx="2">
                  <c:v>PSQL-Broad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88-4EFD-BEEE-5796ACC416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3B83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Annuities</c:v>
                </c:pt>
                <c:pt idx="1">
                  <c:v>PSQL-Affluent</c:v>
                </c:pt>
                <c:pt idx="2">
                  <c:v>PSQL-Broad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88-4EFD-BEEE-5796ACC416A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18591711"/>
        <c:axId val="2118580191"/>
      </c:barChart>
      <c:catAx>
        <c:axId val="2118591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80191"/>
        <c:crosses val="autoZero"/>
        <c:auto val="1"/>
        <c:lblAlgn val="ctr"/>
        <c:lblOffset val="100"/>
        <c:noMultiLvlLbl val="0"/>
      </c:catAx>
      <c:valAx>
        <c:axId val="2118580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91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Production Failures by Issue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Failure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Control-M</c:v>
                </c:pt>
                <c:pt idx="1">
                  <c:v>DBT</c:v>
                </c:pt>
                <c:pt idx="2">
                  <c:v>Lambda</c:v>
                </c:pt>
                <c:pt idx="3">
                  <c:v>SQL Server</c:v>
                </c:pt>
                <c:pt idx="4">
                  <c:v>Profisee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5-4370-8ECD-2E3B19C64E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Platform Issue</c:v>
                </c:pt>
              </c:strCache>
            </c:strRef>
          </c:tx>
          <c:spPr>
            <a:solidFill>
              <a:srgbClr val="3B83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Control-M</c:v>
                </c:pt>
                <c:pt idx="1">
                  <c:v>DBT</c:v>
                </c:pt>
                <c:pt idx="2">
                  <c:v>Lambda</c:v>
                </c:pt>
                <c:pt idx="3">
                  <c:v>SQL Server</c:v>
                </c:pt>
                <c:pt idx="4">
                  <c:v>Profisee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95-4370-8ECD-2E3B19C64E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 DQ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Control-M</c:v>
                </c:pt>
                <c:pt idx="1">
                  <c:v>DBT</c:v>
                </c:pt>
                <c:pt idx="2">
                  <c:v>Lambda</c:v>
                </c:pt>
                <c:pt idx="3">
                  <c:v>SQL Server</c:v>
                </c:pt>
                <c:pt idx="4">
                  <c:v>Profisee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95-4370-8ECD-2E3B19C64E3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67268287"/>
        <c:axId val="1867268767"/>
      </c:barChart>
      <c:catAx>
        <c:axId val="1867268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7268767"/>
        <c:crosses val="autoZero"/>
        <c:auto val="1"/>
        <c:lblAlgn val="ctr"/>
        <c:lblOffset val="100"/>
        <c:noMultiLvlLbl val="0"/>
      </c:catAx>
      <c:valAx>
        <c:axId val="186726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7268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Production Failures by Batch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5E-4EAC-A0FC-AB59D86A6D5A}"/>
              </c:ext>
            </c:extLst>
          </c:dPt>
          <c:dPt>
            <c:idx val="1"/>
            <c:bubble3D val="0"/>
            <c:spPr>
              <a:solidFill>
                <a:srgbClr val="3B83C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5E-4EAC-A0FC-AB59D86A6D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Nightly</c:v>
                </c:pt>
                <c:pt idx="1">
                  <c:v>Real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13-4149-9435-4763DBCE4A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Open</a:t>
            </a:r>
            <a:r>
              <a:rPr lang="en-US" sz="1100" b="1" baseline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-Source Data Quality Issue</a:t>
            </a:r>
            <a:endParaRPr lang="en-US" sz="1100" b="1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OpenIssues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Annuities</c:v>
                </c:pt>
                <c:pt idx="1">
                  <c:v>Life</c:v>
                </c:pt>
                <c:pt idx="2">
                  <c:v>Salesforce</c:v>
                </c:pt>
                <c:pt idx="3">
                  <c:v>Discovery</c:v>
                </c:pt>
                <c:pt idx="4">
                  <c:v>Accupoint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15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3-440A-96B6-A2BB3D0E80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08717216"/>
        <c:axId val="1108714336"/>
      </c:barChart>
      <c:catAx>
        <c:axId val="1108717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714336"/>
        <c:crosses val="autoZero"/>
        <c:auto val="1"/>
        <c:lblAlgn val="ctr"/>
        <c:lblOffset val="100"/>
        <c:noMultiLvlLbl val="0"/>
      </c:catAx>
      <c:valAx>
        <c:axId val="1108714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717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CA6E-610F-CC79-3CA2-A850313C7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F94AF-30E4-E51C-678D-DBA80797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AE397-DD6A-BCA9-69A1-861F1AA2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7B3B1-CA28-D649-D10D-A72BEE79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D3079-FFE0-2B38-D0DB-00C70B5F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17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897E-1F18-D471-DA1C-86D1F176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351B-36A9-43F7-F20E-C6D82DA15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77F10-0DA1-ED3C-079C-6456B569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E558-336C-D980-177F-BE4BE979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9071C-F548-1292-FA79-DFF49F7B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82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56FB-2BE1-314F-A20A-54FB591E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87988-1F1D-CB91-569D-5260D7B1A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6895D-4684-9E36-63B1-ECC1E716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0D6CA-FE3D-3A08-6208-211099AE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38B61-6211-A421-CCD7-C281F711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47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80DF-F349-5005-3669-E13C119C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2FDC-2BA6-3A81-DBB6-8EB307525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5E40A-B34B-FF32-BE8D-64EB06E99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4317-F1B6-0591-0022-703DE179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F1E24-A7B3-053B-5D1F-43CB57DA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F05CA-2DB4-DBB9-DEE8-3829679D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E8AD-D7DB-65CD-4D93-8EAF0D18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E47F4-78CB-E657-0385-1D4BD1E49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3B0E1-25EF-77E2-2D70-4E8961F13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322BE1-52D0-E095-D25A-93FD7C257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54E4C-7766-A35C-447D-703837DDE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F8021-CFA8-333C-BB2B-73D5D4DA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F3BAE-5ED9-6192-2124-4523A415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554805-5787-C38E-8581-49699F48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16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9953-6516-3B64-67B7-781400CF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79297-31C3-3E7C-D8E1-F7EB2C49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D8C7A-B3AA-C5A0-6B27-AE1C996D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ED6E2-F43E-371F-C2BE-63EEA97D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14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A6E6D-455E-EDC4-2612-6912774F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DC19E0-64A5-EBCC-33F7-87DCB22D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950FD-AE0F-C71B-B18F-05963FEC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77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082D-9AC3-D5A1-B3DB-704B33BA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0928F-1D00-DBFF-CE85-7E5F6AEAC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47A45-8CCF-F90E-D766-1F7BC668A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9E956-37CA-01A0-D954-812B5A49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10D08-8AE9-6C85-B1D3-FE165DF3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7339E-2908-8493-CE71-0117EBF6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23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8FB1-9715-7087-7EB9-BB7CE634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5132F-F929-345A-5B9A-D7BC405C7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09771-6865-378A-A753-B458484C7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E760-3BF7-0F21-BE82-3C3FA3EB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CCC47-CD66-1DAB-8222-A3BA44BA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34B1F-3C1A-BA21-5B8C-DD6FB2A9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0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F1CA-E60C-89BD-5483-E2C0563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08F3E-5A37-83CF-C1BB-A62D14743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2DA04-1CBC-36DD-78C9-A9B5F3AF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14953-0FD7-1B4B-732C-0BAF6437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712FD-9349-76A8-7FEE-39B62F82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34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C0705A-3E98-527B-0786-AEB17EC65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6E31D-E5A3-5230-5950-0ABD66C70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7850B-C6A3-9AFA-760D-F4510951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8DA7-AE4C-CF21-1FF9-7D3ADAB1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1073-CE69-55D1-968F-F46E3361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93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381BA-100E-E08F-C7EE-8A3F8B410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F0B50-9226-2249-B415-4B78A30FF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413EE-55D9-67D3-E16B-F84560D34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5E019-E031-0948-30E8-DDF89D4A5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229C-93D1-3C63-0ACC-D357FEE45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4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4FDA1F-FD95-8F59-16B7-713E6030B020}"/>
              </a:ext>
            </a:extLst>
          </p:cNvPr>
          <p:cNvSpPr txBox="1"/>
          <p:nvPr/>
        </p:nvSpPr>
        <p:spPr>
          <a:xfrm>
            <a:off x="160297" y="113530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Operational Support </a:t>
            </a:r>
            <a:endParaRPr lang="en-IN" sz="2400" b="1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8ABC6C-86CC-1913-A382-D7C6435B6E13}"/>
              </a:ext>
            </a:extLst>
          </p:cNvPr>
          <p:cNvSpPr/>
          <p:nvPr/>
        </p:nvSpPr>
        <p:spPr>
          <a:xfrm>
            <a:off x="233680" y="924560"/>
            <a:ext cx="1656078" cy="914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US" sz="14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DEB535-F7DD-919D-C52B-F6B29BAEDB0B}"/>
              </a:ext>
            </a:extLst>
          </p:cNvPr>
          <p:cNvSpPr/>
          <p:nvPr/>
        </p:nvSpPr>
        <p:spPr>
          <a:xfrm>
            <a:off x="233679" y="1962331"/>
            <a:ext cx="1656079" cy="914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sz="1000" b="1">
              <a:latin typeface="Poppins"/>
              <a:cs typeface="Poppi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6F77E-60F0-1092-45EF-4EA8CC92D938}"/>
              </a:ext>
            </a:extLst>
          </p:cNvPr>
          <p:cNvSpPr/>
          <p:nvPr/>
        </p:nvSpPr>
        <p:spPr>
          <a:xfrm>
            <a:off x="233678" y="3058160"/>
            <a:ext cx="1656079" cy="914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b="1">
              <a:latin typeface="Poppins"/>
              <a:cs typeface="Poppi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C20F5-2AA3-CC60-258F-E871164EB57C}"/>
              </a:ext>
            </a:extLst>
          </p:cNvPr>
          <p:cNvSpPr/>
          <p:nvPr/>
        </p:nvSpPr>
        <p:spPr>
          <a:xfrm>
            <a:off x="233677" y="4139474"/>
            <a:ext cx="1656080" cy="8998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sz="900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n-IN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B1667E-B990-18ED-EEC2-C62466AB3105}"/>
              </a:ext>
            </a:extLst>
          </p:cNvPr>
          <p:cNvSpPr/>
          <p:nvPr/>
        </p:nvSpPr>
        <p:spPr>
          <a:xfrm>
            <a:off x="233677" y="5271589"/>
            <a:ext cx="1670594" cy="92020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sz="8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527A8-9571-6DEF-9BEB-12AC04CAF4B0}"/>
              </a:ext>
            </a:extLst>
          </p:cNvPr>
          <p:cNvSpPr txBox="1"/>
          <p:nvPr/>
        </p:nvSpPr>
        <p:spPr>
          <a:xfrm>
            <a:off x="82923" y="6258560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2">
                    <a:lumMod val="75000"/>
                  </a:schemeClr>
                </a:solidFill>
              </a:rPr>
              <a:t>*MTTR–Mean Time To Resolve</a:t>
            </a:r>
            <a:endParaRPr lang="en-IN" sz="110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382134E2-64F2-5F39-3B30-FC0E5B324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666794"/>
              </p:ext>
            </p:extLst>
          </p:nvPr>
        </p:nvGraphicFramePr>
        <p:xfrm>
          <a:off x="2040509" y="2348383"/>
          <a:ext cx="5841835" cy="2062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966327C3-F3A8-4FD7-E5E4-EC78CF285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8364866"/>
              </p:ext>
            </p:extLst>
          </p:nvPr>
        </p:nvGraphicFramePr>
        <p:xfrm>
          <a:off x="8017856" y="2348383"/>
          <a:ext cx="4056579" cy="2069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E5A06296-F40E-1FB4-1873-DE4B6F6B5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050077"/>
              </p:ext>
            </p:extLst>
          </p:nvPr>
        </p:nvGraphicFramePr>
        <p:xfrm>
          <a:off x="2047765" y="4509617"/>
          <a:ext cx="4145248" cy="226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D673858-1E45-73F4-2F9F-D54CCF6506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852107"/>
              </p:ext>
            </p:extLst>
          </p:nvPr>
        </p:nvGraphicFramePr>
        <p:xfrm>
          <a:off x="6259069" y="4509616"/>
          <a:ext cx="2278751" cy="226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CB127E2-DFDC-5E78-EAC3-DD8195103B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32735"/>
              </p:ext>
            </p:extLst>
          </p:nvPr>
        </p:nvGraphicFramePr>
        <p:xfrm>
          <a:off x="8632897" y="4509612"/>
          <a:ext cx="3439890" cy="2263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FB62E1A-3BD1-3EA1-E58C-A90573EE9D23}"/>
              </a:ext>
            </a:extLst>
          </p:cNvPr>
          <p:cNvSpPr txBox="1">
            <a:spLocks/>
          </p:cNvSpPr>
          <p:nvPr/>
        </p:nvSpPr>
        <p:spPr>
          <a:xfrm>
            <a:off x="273894" y="998858"/>
            <a:ext cx="16256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&lt;&lt;BATCH_CYCLES&gt;&gt;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4B7811-76F1-5265-52EE-DEDA6A7A90A3}"/>
              </a:ext>
            </a:extLst>
          </p:cNvPr>
          <p:cNvSpPr txBox="1"/>
          <p:nvPr/>
        </p:nvSpPr>
        <p:spPr>
          <a:xfrm>
            <a:off x="358478" y="1261993"/>
            <a:ext cx="14659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err="1">
                <a:latin typeface="Poppins"/>
                <a:ea typeface="Calibri"/>
                <a:cs typeface="Poppins"/>
              </a:rPr>
              <a:t>No.Of</a:t>
            </a:r>
            <a:r>
              <a:rPr lang="en-US" sz="1600" b="1">
                <a:latin typeface="Poppins"/>
                <a:ea typeface="Calibri"/>
                <a:cs typeface="Poppins"/>
              </a:rPr>
              <a:t> Batch </a:t>
            </a:r>
            <a:endParaRPr lang="en-US" sz="1600">
              <a:ea typeface="Calibri"/>
              <a:cs typeface="Calibri"/>
            </a:endParaRPr>
          </a:p>
          <a:p>
            <a:pPr algn="ctr"/>
            <a:r>
              <a:rPr lang="en-US" sz="1600" b="1">
                <a:latin typeface="Poppins"/>
                <a:ea typeface="Calibri"/>
                <a:cs typeface="Poppins"/>
              </a:rPr>
              <a:t>Cycles</a:t>
            </a:r>
            <a:endParaRPr lang="en-US" sz="1600" b="1">
              <a:latin typeface="Poppins"/>
              <a:cs typeface="Poppi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E538E-3219-2F0A-D8A4-917768296C63}"/>
              </a:ext>
            </a:extLst>
          </p:cNvPr>
          <p:cNvSpPr txBox="1"/>
          <p:nvPr/>
        </p:nvSpPr>
        <p:spPr>
          <a:xfrm>
            <a:off x="147019" y="2140105"/>
            <a:ext cx="18288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&lt;&lt;TOTAL_INCIDENTS&gt;&gt;</a:t>
            </a:r>
            <a:endParaRPr lang="en-US" sz="1100" b="1">
              <a:solidFill>
                <a:srgbClr val="002060"/>
              </a:solidFill>
              <a:latin typeface="Poppins"/>
              <a:cs typeface="Poppi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BAAD31-5F18-5E14-324B-043A2B0699C6}"/>
              </a:ext>
            </a:extLst>
          </p:cNvPr>
          <p:cNvSpPr txBox="1"/>
          <p:nvPr/>
        </p:nvSpPr>
        <p:spPr>
          <a:xfrm>
            <a:off x="263257" y="2422260"/>
            <a:ext cx="165463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400" b="1">
                <a:latin typeface="Poppins"/>
                <a:cs typeface="Poppins"/>
              </a:rPr>
              <a:t>No. Of Incidents</a:t>
            </a:r>
            <a:endParaRPr lang="en-US" sz="1400">
              <a:latin typeface="Poppins"/>
              <a:cs typeface="Poppins"/>
            </a:endParaRPr>
          </a:p>
          <a:p>
            <a:pPr algn="l"/>
            <a:endParaRPr lang="en-US" sz="160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27437-4585-47D1-E938-A0A48219B1C2}"/>
              </a:ext>
            </a:extLst>
          </p:cNvPr>
          <p:cNvSpPr txBox="1"/>
          <p:nvPr/>
        </p:nvSpPr>
        <p:spPr>
          <a:xfrm>
            <a:off x="326822" y="3241811"/>
            <a:ext cx="134257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&lt;&lt;MTTR&gt;&gt;</a:t>
            </a:r>
            <a:endParaRPr lang="en-US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651440-AEFF-3B78-E76F-E63C02F7ADD4}"/>
              </a:ext>
            </a:extLst>
          </p:cNvPr>
          <p:cNvSpPr txBox="1"/>
          <p:nvPr/>
        </p:nvSpPr>
        <p:spPr>
          <a:xfrm>
            <a:off x="236983" y="3565633"/>
            <a:ext cx="16546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Poppins"/>
                <a:ea typeface="Calibri"/>
                <a:cs typeface="Poppins"/>
              </a:rPr>
              <a:t>MTTR* (in mins)</a:t>
            </a:r>
            <a:endParaRPr lang="en-US" sz="1400" b="1">
              <a:latin typeface="Poppins"/>
              <a:cs typeface="Poppi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7CC05F-F514-DC13-2BE8-17F9ED4A223F}"/>
              </a:ext>
            </a:extLst>
          </p:cNvPr>
          <p:cNvSpPr txBox="1"/>
          <p:nvPr/>
        </p:nvSpPr>
        <p:spPr>
          <a:xfrm>
            <a:off x="186434" y="4268452"/>
            <a:ext cx="17925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&lt;&lt;RECURRING_ISSUES&gt;&gt;</a:t>
            </a:r>
            <a:endParaRPr lang="en-US" sz="1000" b="1">
              <a:solidFill>
                <a:srgbClr val="002060"/>
              </a:solidFill>
              <a:latin typeface="Poppins"/>
              <a:cs typeface="Poppi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2AA31A-F497-A69C-4107-5E10F4438AD5}"/>
              </a:ext>
            </a:extLst>
          </p:cNvPr>
          <p:cNvSpPr txBox="1"/>
          <p:nvPr/>
        </p:nvSpPr>
        <p:spPr>
          <a:xfrm>
            <a:off x="199443" y="4591770"/>
            <a:ext cx="177074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Poppins"/>
                <a:ea typeface="Calibri"/>
                <a:cs typeface="Poppins"/>
              </a:rPr>
              <a:t>Recuuring Issues</a:t>
            </a:r>
            <a:endParaRPr lang="en-US" sz="1400">
              <a:latin typeface="Poppin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4C36D2-989D-1EC4-C5BB-61D5328976CA}"/>
              </a:ext>
            </a:extLst>
          </p:cNvPr>
          <p:cNvSpPr txBox="1"/>
          <p:nvPr/>
        </p:nvSpPr>
        <p:spPr>
          <a:xfrm>
            <a:off x="174045" y="5344385"/>
            <a:ext cx="182880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&lt;&lt;RECURRING_RESOLVED&gt;&gt;</a:t>
            </a:r>
            <a:endParaRPr lang="en-US" sz="900" b="1">
              <a:solidFill>
                <a:srgbClr val="002060"/>
              </a:solidFill>
              <a:latin typeface="Poppins"/>
              <a:cs typeface="Poppi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0FED4F-BD82-4E75-F40C-4E9394A944E1}"/>
              </a:ext>
            </a:extLst>
          </p:cNvPr>
          <p:cNvSpPr txBox="1"/>
          <p:nvPr/>
        </p:nvSpPr>
        <p:spPr>
          <a:xfrm>
            <a:off x="217089" y="5641428"/>
            <a:ext cx="18215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Poppins"/>
                <a:ea typeface="Calibri"/>
                <a:cs typeface="Poppins"/>
              </a:rPr>
              <a:t>Recurring Issues </a:t>
            </a:r>
            <a:endParaRPr lang="en-US"/>
          </a:p>
          <a:p>
            <a:pPr algn="ctr"/>
            <a:r>
              <a:rPr lang="en-US" sz="1400" b="1">
                <a:latin typeface="Poppins"/>
                <a:ea typeface="Calibri"/>
                <a:cs typeface="Poppins"/>
              </a:rPr>
              <a:t>Resolved</a:t>
            </a:r>
            <a:endParaRPr lang="en-US" sz="1400" b="1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8893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50"/>
      </a:accent1>
      <a:accent2>
        <a:srgbClr val="FFFF00"/>
      </a:accent2>
      <a:accent3>
        <a:srgbClr val="FF0000"/>
      </a:accent3>
      <a:accent4>
        <a:srgbClr val="C00000"/>
      </a:accent4>
      <a:accent5>
        <a:srgbClr val="000000"/>
      </a:accent5>
      <a:accent6>
        <a:srgbClr val="44546A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dgramyashree05@gmail.com</dc:creator>
  <cp:lastModifiedBy>dgramyashree05@gmail.com</cp:lastModifiedBy>
  <cp:revision>96</cp:revision>
  <dcterms:created xsi:type="dcterms:W3CDTF">2026-06-20T08:31:39Z</dcterms:created>
  <dcterms:modified xsi:type="dcterms:W3CDTF">2026-07-02T19:18:27Z</dcterms:modified>
</cp:coreProperties>
</file>